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Forward-deployed engineering is emerging as the leading operating model for scaling enterprise AI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Model differentiators and publicly reported evidence from seven leading organizations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82496"/>
            <a:ext cx="3977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What differentiates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21408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 </a:t>
            </a:r>
            <a:r>
              <a:rPr sz="1050" b="1">
                <a:solidFill>
                  <a:srgbClr val="000000"/>
                </a:solidFill>
                <a:latin typeface="Arial"/>
              </a:rPr>
              <a:t>Embedded in the business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Engineers sit inside business teams, not central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71216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 </a:t>
            </a:r>
            <a:r>
              <a:rPr sz="1050" b="1">
                <a:solidFill>
                  <a:srgbClr val="000000"/>
                </a:solidFill>
                <a:latin typeface="Arial"/>
              </a:rPr>
              <a:t>Problem-led, not spec-led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Work starts from operational problems, not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21024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3.  </a:t>
            </a:r>
            <a:r>
              <a:rPr sz="1050" b="1">
                <a:solidFill>
                  <a:srgbClr val="000000"/>
                </a:solidFill>
                <a:latin typeface="Arial"/>
              </a:rPr>
              <a:t>Rapid iteration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Solutions iterated live with users in days, not quarters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70832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4.  </a:t>
            </a:r>
            <a:r>
              <a:rPr sz="1050" b="1">
                <a:solidFill>
                  <a:srgbClr val="000000"/>
                </a:solidFill>
                <a:latin typeface="Arial"/>
              </a:rPr>
              <a:t>Productization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Proven solutions become reusable platform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682496"/>
            <a:ext cx="68397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Evidence from leading organizations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846320" y="2084831"/>
          <a:ext cx="6839712" cy="33467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87552"/>
                <a:gridCol w="2834640"/>
                <a:gridCol w="301752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73152" marR="73152" marT="41148" marB="4114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Operating model</a:t>
                      </a:r>
                    </a:p>
                  </a:txBody>
                  <a:tcPr marL="73152" marR="73152" marT="41148" marB="4114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Publicly reported outcomes</a:t>
                      </a:r>
                    </a:p>
                  </a:txBody>
                  <a:tcPr marL="73152" marR="73152" marT="41148" marB="41148" anchor="ctr">
                    <a:solidFill>
                      <a:srgbClr val="00000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Palantir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Originator of the FDE model; engineers deploy on-site to build on Foundry and AIP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Credits FDE-led AIP bootcamps for accelerating US commercial growth on earnings calls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Uber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Engineers embedded with city operations teams; model now offered externally via Uber AI Solutions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Embedded ops–engineering pairing publicly cited as central to city-by-city scaling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OpenAI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FDE teams embed with enterprise customers to build agentic deployments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Positions FDEs as core to converting frontier models into enterprise adoption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ElevenLabs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FDEs co-build production voice agents with customer engineering teams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Attributes enterprise expansion to its deployment-led engineering model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Stripe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Engineers work directly with users; solution engineers embedded in key accounts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User-proximate engineering credited for product velocity and enterprise wins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Brex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AI engineers embedded in internal teams to redesign core workflows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Leadership reports company-wide daily AI usage from the embedded rollout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Plaid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FDEs work alongside customer engineers during onboarding and expansion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Publicly cites materially faster enterprise integrations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846320" y="5596128"/>
            <a:ext cx="6839712" cy="69494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5596128"/>
            <a:ext cx="36576" cy="6949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5596128"/>
            <a:ext cx="6473952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Common pattern:  </a:t>
            </a:r>
            <a:r>
              <a:rPr sz="950" b="0">
                <a:solidFill>
                  <a:srgbClr val="000000"/>
                </a:solidFill>
                <a:latin typeface="Arial"/>
              </a:rPr>
              <a:t>every organization positions engineers at the point of value creation and relies on a platform team to convert local wins into reusable enterprise assets.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Company earnings calls, engineering blogs and public statements. Outcomes as publicly reported; not independently verified.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Leading organizations consistently deploy the same operating model despite differences in industry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Six shared design principles and how each organization applies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8249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Common design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21408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 engineers alongside business operators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88336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 </a:t>
            </a:r>
            <a:r>
              <a:rPr sz="1050" b="0">
                <a:solidFill>
                  <a:srgbClr val="000000"/>
                </a:solidFill>
                <a:latin typeface="Arial"/>
              </a:rPr>
              <a:t>Observe workflows first-hand before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55264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3.  </a:t>
            </a:r>
            <a:r>
              <a:rPr sz="1050" b="0">
                <a:solidFill>
                  <a:srgbClr val="000000"/>
                </a:solidFill>
                <a:latin typeface="Arial"/>
              </a:rPr>
              <a:t>Deploy small, multidisciplinary pods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22192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4.  </a:t>
            </a:r>
            <a:r>
              <a:rPr sz="1050" b="0">
                <a:solidFill>
                  <a:srgbClr val="000000"/>
                </a:solidFill>
                <a:latin typeface="Arial"/>
              </a:rPr>
              <a:t>Run rapid build–measure–learn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8912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5.  </a:t>
            </a:r>
            <a:r>
              <a:rPr sz="1050" b="0">
                <a:solidFill>
                  <a:srgbClr val="000000"/>
                </a:solidFill>
                <a:latin typeface="Arial"/>
              </a:rPr>
              <a:t>Productize successful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56048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6.  </a:t>
            </a:r>
            <a:r>
              <a:rPr sz="1050" b="0">
                <a:solidFill>
                  <a:srgbClr val="000000"/>
                </a:solidFill>
                <a:latin typeface="Arial"/>
              </a:rPr>
              <a:t>Continuously strengthen the enterprise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682496"/>
            <a:ext cx="6675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How each organization applies 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83480" y="212140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4983480" y="219456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Palantir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41401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On-site FDEs building on Foundry and AIP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Two-role split — domain specialists and product engineers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Land and expand enterprise accounts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58200" y="212140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8458200" y="219456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Uber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41401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Engineers inside city operations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Ops data loop tuned market by market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Speed of launch and scale per city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83480" y="3163823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4983480" y="3236975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OpenAI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456431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FDE pods within enterprise accounts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Proximity to frontier research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Production agent deployments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58200" y="3163823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8458200" y="3236975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ElevenLabs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456431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FDEs co-build with client engineers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Deep voice and audio specialization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Fastest path to live voice agents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83480" y="420623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4983480" y="427939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Stripe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49884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Engineers paired directly with users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Developer empathy and API craft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Product velocity from user contact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58200" y="420623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8458200" y="427939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Brex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49884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AI engineers embedded in internal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Internal-first automation of own workflows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Company-wide productivity gains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983480" y="5248653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4983480" y="5321805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Plaid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5541261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FDEs inside customer integration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Deep bank and fintech data expertise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Faster, stickier integrations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5303517"/>
            <a:ext cx="3319272" cy="932687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200" y="5303517"/>
            <a:ext cx="36576" cy="93268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1080" y="5303517"/>
            <a:ext cx="2953512" cy="9326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Arial"/>
              </a:rPr>
              <a:t>Same blueprint:  </a:t>
            </a:r>
            <a:r>
              <a:rPr sz="850" b="0">
                <a:solidFill>
                  <a:srgbClr val="000000"/>
                </a:solidFill>
                <a:latin typeface="Arial"/>
              </a:rPr>
              <a:t>proximity to operations, speed of iteration and platform leverage — applied to different industries.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Company engineering blogs, job postings and public statements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Forward-deployed engineering fundamentally changes how technology organizations create value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Comparison of the traditional and forward-deployed delivery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82496"/>
            <a:ext cx="5349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Traditional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6792" y="1682496"/>
            <a:ext cx="5349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Forward-deployed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34540" y="2066543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Business</a:t>
            </a:r>
          </a:p>
        </p:txBody>
      </p:sp>
      <p:sp>
        <p:nvSpPr>
          <p:cNvPr id="8" name="Down Arrow 7"/>
          <p:cNvSpPr/>
          <p:nvPr/>
        </p:nvSpPr>
        <p:spPr>
          <a:xfrm>
            <a:off x="3131820" y="2359151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34540" y="2468879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Requirements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31820" y="2761487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4540" y="2871215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Engineering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131820" y="3163823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3273551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Testing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31820" y="3566159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34540" y="3675887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Deployment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131820" y="3968495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34540" y="4078223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Business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72000"/>
            <a:ext cx="5349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Structural weaknesses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4632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Intent degrades at every handoff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Feedback arrives only after deployment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Cycle times measured in quarters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Business and IT optimize different goals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94092" y="201168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Business team</a:t>
            </a:r>
          </a:p>
        </p:txBody>
      </p:sp>
      <p:sp>
        <p:nvSpPr>
          <p:cNvPr id="21" name="Up-Down Arrow 20"/>
          <p:cNvSpPr/>
          <p:nvPr/>
        </p:nvSpPr>
        <p:spPr>
          <a:xfrm>
            <a:off x="8965692" y="235915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94092" y="251460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Embedded engineer</a:t>
            </a:r>
          </a:p>
        </p:txBody>
      </p:sp>
      <p:sp>
        <p:nvSpPr>
          <p:cNvPr id="23" name="Up-Down Arrow 22"/>
          <p:cNvSpPr/>
          <p:nvPr/>
        </p:nvSpPr>
        <p:spPr>
          <a:xfrm>
            <a:off x="8965692" y="286207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94092" y="301752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AI builder</a:t>
            </a:r>
          </a:p>
        </p:txBody>
      </p:sp>
      <p:sp>
        <p:nvSpPr>
          <p:cNvPr id="25" name="Up-Down Arrow 24"/>
          <p:cNvSpPr/>
          <p:nvPr/>
        </p:nvSpPr>
        <p:spPr>
          <a:xfrm>
            <a:off x="8965692" y="336499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94092" y="352044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Platform team</a:t>
            </a:r>
          </a:p>
        </p:txBody>
      </p:sp>
      <p:sp>
        <p:nvSpPr>
          <p:cNvPr id="27" name="Up-Down Arrow 26"/>
          <p:cNvSpPr/>
          <p:nvPr/>
        </p:nvSpPr>
        <p:spPr>
          <a:xfrm>
            <a:off x="8965692" y="386791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94092" y="4023360"/>
            <a:ext cx="2834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000000"/>
                </a:solidFill>
                <a:latin typeface="Arial"/>
              </a:rPr>
              <a:t>Reusable enterprise capability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4572000"/>
            <a:ext cx="5349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Structural benefits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84632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Problems observed first-hand, not translated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Working software in days; feedback continuous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Every deployment compounds into a shared platform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One team accountable for the business outcome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52160"/>
            <a:ext cx="11185855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52160"/>
            <a:ext cx="36576" cy="5120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852160"/>
            <a:ext cx="108200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Bottom line:  </a:t>
            </a:r>
            <a:r>
              <a:rPr sz="950" b="0">
                <a:solidFill>
                  <a:srgbClr val="000000"/>
                </a:solidFill>
                <a:latin typeface="Arial"/>
              </a:rPr>
              <a:t>the traditional model manages requirements across handoffs; the forward-deployed model removes the handoffs — compressing learning cycles from quarters to days and converting each win into enterprise capability.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A forward-deployed engineering capability requires changes across operating model, governance and talent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Design requirements across five dimensions of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Operating 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Domain-aligned pods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Dedicated embedded engineers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Central platform enablement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Rotation between pod and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Executive sponsor per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6118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Talent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76118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2776118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Product-minded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6118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Business-domain fluency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6118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Applied AI engineering depth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6118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Distinct FDE career track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6118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Incentives tied to business outcomes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9316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Technology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49316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5049316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Shared enterprise AI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9316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Reusable components and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9316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Governed data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9316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Observability and 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9316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Fast sandbox-to-production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2514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Governance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22514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28" name="TextBox 27"/>
          <p:cNvSpPr txBox="1"/>
          <p:nvPr/>
        </p:nvSpPr>
        <p:spPr>
          <a:xfrm>
            <a:off x="7322514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Clear domain ownership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2514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Portfolio-based funding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14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Security and data protection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14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AI risk 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14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Stage-gates for productization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95712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Success metrics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595712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9595712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Time from problem to deployment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5712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Business-user adoption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5712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Productivity and cost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5712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Platform reuse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5712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Customer and P&amp;L outcomes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596128"/>
            <a:ext cx="11185855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596128"/>
            <a:ext cx="36576" cy="7498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596128"/>
            <a:ext cx="108200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Recommendation:  </a:t>
            </a:r>
            <a:r>
              <a:rPr sz="1050" b="0">
                <a:solidFill>
                  <a:srgbClr val="000000"/>
                </a:solidFill>
                <a:latin typeface="Arial"/>
              </a:rPr>
              <a:t>stand up two to three forward-deployed pods in high-value domains within 90 days, fund a shared platform team from day one, and scale only what demonstrates measured business impact.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88036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Arial"/>
              </a:rPr>
              <a:t>Backup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3401568"/>
            <a:ext cx="2011680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3547872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One-pager per exemplar: model, motivation, differentiation and impact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Palantir created the forward-deployed model and built its commercial engine around it</a:t>
            </a:r>
          </a:p>
        </p:txBody>
      </p:sp>
      <p:pic>
        <p:nvPicPr>
          <p:cNvPr id="3" name="Picture 2" descr="palan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Palantir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FDEs deploy on-site within customer operations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Two roles: domain-facing specialists and product-focused engineers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Build directly on Foundry and AIP against live customer data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Multi-week bootcamps deliver working software before contracts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Government and industrial clients could not specify requirements upfront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Complex, sensitive data environments demanded on-site iteration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Conventional software sales failed to demonstrate value in these settings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 is the core commercial motion, not a services add-on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Field learnings flow directly into the product roadmap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Engineers ship product code — not consulting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Credits FDE-led AIP bootcamps for accelerating US commercial growth on earnings calls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Sustained expansion within existing accounts publicly highlighted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Model now widely emulated across the industry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Palantir earnings calls, S-1 and public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Uber's embedded ops–engineering pairing powered city-by-city scaling and is now a product it sells</a:t>
            </a:r>
          </a:p>
        </p:txBody>
      </p:sp>
      <p:pic>
        <p:nvPicPr>
          <p:cNvPr id="3" name="Picture 2" descr="u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Uber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Engineers embedded with city operations teams through the scaling era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City teams owned the P&amp;L; engineers tuned marketplace levers locally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Model now offered externally to enterprises via Uber AI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Every city market behaved differently; central roadmaps were too slow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Launch speed was existential in winner-take-most markets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Operational data lived in the field, not at headquarters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Ops-led and engineer-supported — the business owned the outcome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City learnings codified into playbooks and reused globally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Matured from internal practice into an external commercial offering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Embedded pairing publicly cited as central to rapid multi-market expansion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Enabled local marketplace tuning at global scale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Basis for the Uber AI Solutions business line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Uber public statements, engineering blog and press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OpenAI built a forward-deployed function to turn frontier models into deployed enterprise systems</a:t>
            </a:r>
          </a:p>
        </p:txBody>
      </p:sp>
      <p:pic>
        <p:nvPicPr>
          <p:cNvPr id="3" name="Picture 2" descr="open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OpenAI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 pods embed within enterprise customer accounts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Build production agent and workflow deployments on OpenAI models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Scope spans integration, evaluation and adoption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Model capability outpaced enterprise ability to absorb it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API access alone did not convert into production use cases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Competition for enterprise adoption intensified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Proximity to frontier research within customer engagements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Field signal shapes model and product priorities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Deployment patterns feed reusable product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Positions FDEs as core to enterprise adoption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Enterprise agent deployments built with embedded teams publicly showcased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OpenAI public statements, hiring posts and press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ElevenLabs uses forward-deployed engineers to compress time-to-production for enterprise voice agents</a:t>
            </a:r>
          </a:p>
        </p:txBody>
      </p:sp>
      <p:pic>
        <p:nvPicPr>
          <p:cNvPr id="3" name="Picture 2" descr="elevenl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ElevenLabs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FDEs co-build production voice agents with customer engineering teams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Engagements run end-to-end: design, integration, evaluation, 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Voice agents demand domain-specific tuning customers could not do alone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Enterprise buyers required proof in production, not demonstrations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Deep voice and audio specialization applied inside customer stacks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Embedded talent lets a small company deliver enterprise-grade deployments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Attributes enterprise expansion to its deployment-led model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 hiring scaled publicly alongside enterprise growth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ElevenLabs public statements, job postings and press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Stripe's user-proximate engineering culture is a long-standing form of forward deployment</a:t>
            </a:r>
          </a:p>
        </p:txBody>
      </p:sp>
      <p:pic>
        <p:nvPicPr>
          <p:cNvPr id="3" name="Picture 2" descr="str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Stripe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Engineers work directly with users — a founding practice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Solution engineers embedded in key enterprise accounts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Direct user contact expected of product engineers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 developer-first product required first-hand user understanding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Enterprise payments complexity could not be specified remotely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Cultural rather than organizational — proximity is the default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API design shaped by continuous developer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User-proximate engineering credited for product velocity and enterprise wins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Developer experience widely treated as the industry benchmark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Stripe public statements, founder interviews and press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Brex points its forward-deployed engineers inward, rebuilding its own operations around AI</a:t>
            </a:r>
          </a:p>
        </p:txBody>
      </p:sp>
      <p:pic>
        <p:nvPicPr>
          <p:cNvPr id="3" name="Picture 2" descr="br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Brex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AI engineers embedded within internal business teams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Core workflows redesigned around AI-native tooling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Adoption managed as an explicit leadership mandate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Fintech margin pressure demanded step-change productivity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Leadership prioritized internal AI adoption ahead of external products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Internal-first: its own operations serve as the proving ground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Embedded engineers accountable for adoption, not just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Leadership reports company-wide daily AI usage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Workflow redesign publicly discussed as a productivity driver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Brex leadership statements and press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Plaid deploys engineers into customer integration teams to make integrations faster and stickier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Plaid — model, motivation, differentiation and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FDEs work alongside customer engineers during onboarding and expansion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Hands-on integration work against customer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Integration timelines gated revenue for Plaid and its customers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Bank and fintech data complexity exceeded documentation-led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Deep bank and fintech data expertise applied in customer codebases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Embedded position surfaces product gaps early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Publicly cites materially faster enterprise integrations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Deeper, harder-to-displace customer relationships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Plaid public statements, job postings and press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