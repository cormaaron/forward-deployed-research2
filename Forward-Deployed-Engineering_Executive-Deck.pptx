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Forward-deployed engineering is emerging as the leading operating model for scaling enterprise AI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96112"/>
            <a:ext cx="11185855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502920" y="10058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Model differentiators and publicly reported evidence from seven leading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82496"/>
            <a:ext cx="39776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What differentiates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21408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  </a:t>
            </a:r>
            <a:r>
              <a:rPr sz="1050" b="1">
                <a:solidFill>
                  <a:srgbClr val="000000"/>
                </a:solidFill>
                <a:latin typeface="Arial"/>
              </a:rPr>
              <a:t>Embedded in the business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     Engineers sit inside business teams, not central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71216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 </a:t>
            </a:r>
            <a:r>
              <a:rPr sz="1050" b="1">
                <a:solidFill>
                  <a:srgbClr val="000000"/>
                </a:solidFill>
                <a:latin typeface="Arial"/>
              </a:rPr>
              <a:t>Problem-led, not spec-led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     Work starts from operational problems, not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21024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3.  </a:t>
            </a:r>
            <a:r>
              <a:rPr sz="1050" b="1">
                <a:solidFill>
                  <a:srgbClr val="000000"/>
                </a:solidFill>
                <a:latin typeface="Arial"/>
              </a:rPr>
              <a:t>Rapid iteration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     Solutions iterated live with users in days, not quarters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7083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4.  </a:t>
            </a:r>
            <a:r>
              <a:rPr sz="1050" b="1">
                <a:solidFill>
                  <a:srgbClr val="000000"/>
                </a:solidFill>
                <a:latin typeface="Arial"/>
              </a:rPr>
              <a:t>Productization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     Proven solutions become reusable platform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82496"/>
            <a:ext cx="68397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Evidence from leading organizations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46320" y="2084831"/>
          <a:ext cx="6839712" cy="33467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87552"/>
                <a:gridCol w="2834640"/>
                <a:gridCol w="301752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73152" marR="73152" marT="41148" marB="4114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Operating model</a:t>
                      </a:r>
                    </a:p>
                  </a:txBody>
                  <a:tcPr marL="73152" marR="73152" marT="41148" marB="4114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Publicly reported outcomes</a:t>
                      </a:r>
                    </a:p>
                  </a:txBody>
                  <a:tcPr marL="73152" marR="73152" marT="41148" marB="41148" anchor="ctr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Palantir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Originator of the FDE model; engineers deploy on-site to build on Foundry and AIP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Credits FDE-led AIP bootcamps for accelerating US commercial growth on earnings calls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Uber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Engineers embedded with city operations teams; model now offered externally via Uber AI Solutions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Embedded ops–engineering pairing publicly cited as central to city-by-city scaling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FDE teams embed with enterprise customers to build agentic deployments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Positions FDEs as core to converting frontier models into enterprise adoption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ElevenLabs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FDEs co-build production voice agents with customer engineering teams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Attributes enterprise expansion to its deployment-led engineering model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Stripe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Engineers work directly with users; solution engineers embedded in key accounts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User-proximate engineering credited for product velocity and enterprise wins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Brex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AI engineers embedded in internal teams to redesign core workflows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Leadership reports company-wide daily AI usage from the embedded rollout</a:t>
                      </a:r>
                    </a:p>
                  </a:txBody>
                  <a:tcPr marL="73152" marR="73152" marT="41148" marB="41148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Plaid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FDEs work alongside customer engineers during onboarding and expansion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595959"/>
                          </a:solidFill>
                          <a:latin typeface="Arial"/>
                        </a:rPr>
                        <a:t>Publicly cites materially faster enterprise integrations</a:t>
                      </a:r>
                    </a:p>
                  </a:txBody>
                  <a:tcPr marL="73152" marR="73152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846320" y="5596128"/>
            <a:ext cx="6839712" cy="69494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5596128"/>
            <a:ext cx="36576" cy="6949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5596128"/>
            <a:ext cx="6473952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Common pattern:  </a:t>
            </a:r>
            <a:r>
              <a:rPr sz="950" b="0">
                <a:solidFill>
                  <a:srgbClr val="000000"/>
                </a:solidFill>
                <a:latin typeface="Arial"/>
              </a:rPr>
              <a:t>every organization positions engineers at the point of value creation and relies on a platform team to convert local wins into reusable enterprise assets.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510528"/>
            <a:ext cx="11185855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Arial"/>
              </a:rPr>
              <a:t>Source: Company earnings calls, engineering blogs and public statements. Outcomes as publicly reported; not independently verified.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8832" y="658368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Leading organizations consistently deploy the same operating model despite differences in industry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96112"/>
            <a:ext cx="11185855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502920" y="10058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Six shared design principles and how each organization applies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82496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Common 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2140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  </a:t>
            </a:r>
            <a:r>
              <a:rPr sz="1050" b="0">
                <a:solidFill>
                  <a:srgbClr val="000000"/>
                </a:solidFill>
                <a:latin typeface="Arial"/>
              </a:rPr>
              <a:t>Embed engineers alongside business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88336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 </a:t>
            </a:r>
            <a:r>
              <a:rPr sz="1050" b="0">
                <a:solidFill>
                  <a:srgbClr val="000000"/>
                </a:solidFill>
                <a:latin typeface="Arial"/>
              </a:rPr>
              <a:t>Observe workflows first-hand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55264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3.  </a:t>
            </a:r>
            <a:r>
              <a:rPr sz="1050" b="0">
                <a:solidFill>
                  <a:srgbClr val="000000"/>
                </a:solidFill>
                <a:latin typeface="Arial"/>
              </a:rPr>
              <a:t>Deploy small, multidisciplinary pods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2219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4.  </a:t>
            </a:r>
            <a:r>
              <a:rPr sz="1050" b="0">
                <a:solidFill>
                  <a:srgbClr val="000000"/>
                </a:solidFill>
                <a:latin typeface="Arial"/>
              </a:rPr>
              <a:t>Run rapid build–measure–learn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5.  </a:t>
            </a:r>
            <a:r>
              <a:rPr sz="1050" b="0">
                <a:solidFill>
                  <a:srgbClr val="000000"/>
                </a:solidFill>
                <a:latin typeface="Arial"/>
              </a:rPr>
              <a:t>Productize successful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560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6.  </a:t>
            </a:r>
            <a:r>
              <a:rPr sz="1050" b="0">
                <a:solidFill>
                  <a:srgbClr val="000000"/>
                </a:solidFill>
                <a:latin typeface="Arial"/>
              </a:rPr>
              <a:t>Continuously strengthen the enterprise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82496"/>
            <a:ext cx="6675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How each organization applies 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121408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983480" y="2194560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Palantir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414016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On-site FDEs building on Foundry and AIP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Two-role split — domain specialists and product engineers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Land and expand enterprise accounts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21408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458200" y="2194560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Uber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14016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Engineers inside city operations teams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Ops data loop tuned market by market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Speed of launch and scale per city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80" y="3163823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983480" y="3236975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456431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FDE pods within enterprise accounts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Proximity to frontier research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Production agent deployments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3163823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8458200" y="3236975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ElevenLabs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56431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FDEs co-build with client engineers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Deep voice and audio specialization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Fastest path to live voice agents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480" y="4206238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4983480" y="4279390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Stripe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498846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Engineers paired directly with users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Developer empathy and API craft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Product velocity from user contact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58200" y="4206238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8458200" y="4279390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Brex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498846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AI engineers embedded in internal teams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Internal-first automation of own workflows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Company-wide productivity gains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83480" y="5248653"/>
            <a:ext cx="3319272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4983480" y="5321805"/>
            <a:ext cx="33192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Plaid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541261"/>
            <a:ext cx="33192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Model   </a:t>
            </a:r>
            <a:r>
              <a:rPr sz="800" b="0">
                <a:solidFill>
                  <a:srgbClr val="000000"/>
                </a:solidFill>
                <a:latin typeface="Arial"/>
              </a:rPr>
              <a:t>FDEs inside customer integration teams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Edge   </a:t>
            </a:r>
            <a:r>
              <a:rPr sz="800" b="0">
                <a:solidFill>
                  <a:srgbClr val="000000"/>
                </a:solidFill>
                <a:latin typeface="Arial"/>
              </a:rPr>
              <a:t>Deep bank and fintech data expertise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00" b="1">
                <a:solidFill>
                  <a:srgbClr val="8C8C8C"/>
                </a:solidFill>
                <a:latin typeface="Arial"/>
              </a:rPr>
              <a:t>Goal   </a:t>
            </a:r>
            <a:r>
              <a:rPr sz="800" b="0">
                <a:solidFill>
                  <a:srgbClr val="000000"/>
                </a:solidFill>
                <a:latin typeface="Arial"/>
              </a:rPr>
              <a:t>Faster, stickier integrations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5303517"/>
            <a:ext cx="3319272" cy="9326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58200" y="5303517"/>
            <a:ext cx="36576" cy="9326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303517"/>
            <a:ext cx="2953512" cy="9326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Arial"/>
              </a:rPr>
              <a:t>Same blueprint:  </a:t>
            </a:r>
            <a:r>
              <a:rPr sz="850" b="0">
                <a:solidFill>
                  <a:srgbClr val="000000"/>
                </a:solidFill>
                <a:latin typeface="Arial"/>
              </a:rPr>
              <a:t>proximity to operations, speed of iteration and platform leverage — applied to different industries.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5855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Arial"/>
              </a:rPr>
              <a:t>Source: Company engineering blogs, job postings and public statements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28832" y="658368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Forward-deployed engineering fundamentally changes how technology organizations create value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96112"/>
            <a:ext cx="11185855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502920" y="10058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Comparison of the traditional and forward-deployed delivery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82496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Traditional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682496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Forward-deployed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4540" y="2066543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Arial"/>
              </a:rPr>
              <a:t>Business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31820" y="2359151"/>
            <a:ext cx="91440" cy="9144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4540" y="2468879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Arial"/>
              </a:rPr>
              <a:t>Requirements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31820" y="2761487"/>
            <a:ext cx="91440" cy="9144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34540" y="2871215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Arial"/>
              </a:rPr>
              <a:t>Engineering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131820" y="3163823"/>
            <a:ext cx="91440" cy="9144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4540" y="3273551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Arial"/>
              </a:rPr>
              <a:t>Testing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31820" y="3566159"/>
            <a:ext cx="91440" cy="9144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34540" y="3675887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Arial"/>
              </a:rPr>
              <a:t>Deployment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31820" y="3968495"/>
            <a:ext cx="91440" cy="9144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34540" y="4078223"/>
            <a:ext cx="22860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Arial"/>
              </a:rPr>
              <a:t>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2000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Structural weaknesses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349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•  </a:t>
            </a:r>
            <a:r>
              <a:rPr sz="950" b="0">
                <a:solidFill>
                  <a:srgbClr val="595959"/>
                </a:solidFill>
                <a:latin typeface="Arial"/>
              </a:rPr>
              <a:t>Intent degrades at every handoff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•  </a:t>
            </a:r>
            <a:r>
              <a:rPr sz="950" b="0">
                <a:solidFill>
                  <a:srgbClr val="595959"/>
                </a:solidFill>
                <a:latin typeface="Arial"/>
              </a:rPr>
              <a:t>Feedback arrives only after deployment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•  </a:t>
            </a:r>
            <a:r>
              <a:rPr sz="950" b="0">
                <a:solidFill>
                  <a:srgbClr val="595959"/>
                </a:solidFill>
                <a:latin typeface="Arial"/>
              </a:rPr>
              <a:t>Cycle times measured in quarters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•  </a:t>
            </a:r>
            <a:r>
              <a:rPr sz="950" b="0">
                <a:solidFill>
                  <a:srgbClr val="595959"/>
                </a:solidFill>
                <a:latin typeface="Arial"/>
              </a:rPr>
              <a:t>Business and IT optimize different goals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94092" y="2011680"/>
            <a:ext cx="2834640" cy="320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Arial"/>
              </a:rPr>
              <a:t>Business team</a:t>
            </a:r>
          </a:p>
        </p:txBody>
      </p:sp>
      <p:sp>
        <p:nvSpPr>
          <p:cNvPr id="21" name="Up-Down Arrow 20"/>
          <p:cNvSpPr/>
          <p:nvPr/>
        </p:nvSpPr>
        <p:spPr>
          <a:xfrm>
            <a:off x="8965692" y="2359152"/>
            <a:ext cx="91440" cy="128016"/>
          </a:xfrm>
          <a:prstGeom prst="up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94092" y="2514600"/>
            <a:ext cx="2834640" cy="320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Arial"/>
              </a:rPr>
              <a:t>Embedded engineer</a:t>
            </a:r>
          </a:p>
        </p:txBody>
      </p:sp>
      <p:sp>
        <p:nvSpPr>
          <p:cNvPr id="23" name="Up-Down Arrow 22"/>
          <p:cNvSpPr/>
          <p:nvPr/>
        </p:nvSpPr>
        <p:spPr>
          <a:xfrm>
            <a:off x="8965692" y="2862072"/>
            <a:ext cx="91440" cy="128016"/>
          </a:xfrm>
          <a:prstGeom prst="up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94092" y="3017520"/>
            <a:ext cx="2834640" cy="320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Arial"/>
              </a:rPr>
              <a:t>AI builder</a:t>
            </a:r>
          </a:p>
        </p:txBody>
      </p:sp>
      <p:sp>
        <p:nvSpPr>
          <p:cNvPr id="25" name="Up-Down Arrow 24"/>
          <p:cNvSpPr/>
          <p:nvPr/>
        </p:nvSpPr>
        <p:spPr>
          <a:xfrm>
            <a:off x="8965692" y="3364992"/>
            <a:ext cx="91440" cy="128016"/>
          </a:xfrm>
          <a:prstGeom prst="up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94092" y="3520440"/>
            <a:ext cx="2834640" cy="320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Arial"/>
              </a:rPr>
              <a:t>Platform team</a:t>
            </a:r>
          </a:p>
        </p:txBody>
      </p:sp>
      <p:sp>
        <p:nvSpPr>
          <p:cNvPr id="27" name="Up-Down Arrow 26"/>
          <p:cNvSpPr/>
          <p:nvPr/>
        </p:nvSpPr>
        <p:spPr>
          <a:xfrm>
            <a:off x="8965692" y="3867912"/>
            <a:ext cx="91440" cy="128016"/>
          </a:xfrm>
          <a:prstGeom prst="upDown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94092" y="4023360"/>
            <a:ext cx="2834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00000"/>
                </a:solidFill>
                <a:latin typeface="Arial"/>
              </a:rPr>
              <a:t>Reusable enterprise capability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572000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Structural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846320"/>
            <a:ext cx="5349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>
                <a:solidFill>
                  <a:srgbClr val="000000"/>
                </a:solidFill>
                <a:latin typeface="Arial"/>
              </a:rPr>
              <a:t>Problems observed first-hand, not translated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>
                <a:solidFill>
                  <a:srgbClr val="000000"/>
                </a:solidFill>
                <a:latin typeface="Arial"/>
              </a:rPr>
              <a:t>Working software in days; feedback continuous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>
                <a:solidFill>
                  <a:srgbClr val="000000"/>
                </a:solidFill>
                <a:latin typeface="Arial"/>
              </a:rPr>
              <a:t>Every deployment compounds into a shared platform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•  </a:t>
            </a:r>
            <a:r>
              <a:rPr sz="950" b="0">
                <a:solidFill>
                  <a:srgbClr val="000000"/>
                </a:solidFill>
                <a:latin typeface="Arial"/>
              </a:rPr>
              <a:t>One team accountable for the business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52160"/>
            <a:ext cx="11185855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852160"/>
            <a:ext cx="36576" cy="5120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852160"/>
            <a:ext cx="1082009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Bottom line:  </a:t>
            </a:r>
            <a:r>
              <a:rPr sz="950" b="0">
                <a:solidFill>
                  <a:srgbClr val="000000"/>
                </a:solidFill>
                <a:latin typeface="Arial"/>
              </a:rPr>
              <a:t>the traditional model manages requirements across handoffs; the forward-deployed model removes the handoffs — compressing learning cycles from quarters to days and converting each win into enterprise capability.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10528"/>
            <a:ext cx="11185855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11228832" y="658368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 forward-deployed engineering capability requires changes across operating model, governance and talent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96112"/>
            <a:ext cx="11185855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502920" y="10058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Design requirements across five dimensions of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2093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Operating 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048256"/>
            <a:ext cx="209397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02920" y="2194560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Domain-aligned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Dedicated embedded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45536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Central platform enablement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21024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Rotation between pod and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96512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Executive sponsor per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6118" y="1755648"/>
            <a:ext cx="2093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Talent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6118" y="2048256"/>
            <a:ext cx="209397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776118" y="2194560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Product-minded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6118" y="267004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Business-domain fluency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6118" y="3145536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Applied AI engineering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6118" y="3621024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Distinct FDE career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6118" y="4096512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Incentives tied to business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9316" y="1755648"/>
            <a:ext cx="2093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Technology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49316" y="2048256"/>
            <a:ext cx="209397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049316" y="2194560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Shared enterprise AI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9316" y="267004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Reusable components and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9316" y="3145536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Governed 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9316" y="3621024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Observability and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9316" y="4096512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Fast sandbox-to-production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2514" y="1755648"/>
            <a:ext cx="2093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Governance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22514" y="2048256"/>
            <a:ext cx="209397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7322514" y="2194560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Clear domain ownership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2514" y="267004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Portfolio-based funding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2514" y="3145536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Security and data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2514" y="3621024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AI risk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2514" y="4096512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Stage-gates for productization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5712" y="1755648"/>
            <a:ext cx="2093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Success metrics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95712" y="2048256"/>
            <a:ext cx="209397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9595712" y="2194560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Time from problem to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5712" y="267004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Business-user 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5712" y="3145536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Productivity and cost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5712" y="3621024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Platform reuse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5712" y="4096512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•  </a:t>
            </a:r>
            <a:r>
              <a:rPr sz="900" b="0">
                <a:solidFill>
                  <a:srgbClr val="000000"/>
                </a:solidFill>
                <a:latin typeface="Arial"/>
              </a:rPr>
              <a:t>Customer and P&amp;L outcomes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96128"/>
            <a:ext cx="11185855" cy="7498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596128"/>
            <a:ext cx="36576" cy="7498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596128"/>
            <a:ext cx="108200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Recommendation:  </a:t>
            </a:r>
            <a:r>
              <a:rPr sz="1050" b="0">
                <a:solidFill>
                  <a:srgbClr val="000000"/>
                </a:solidFill>
                <a:latin typeface="Arial"/>
              </a:rPr>
              <a:t>stand up two to three forward-deployed pods in high-value domains within 90 days, fund a shared platform team from day one, and scale only what demonstrates measured business impact.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10528"/>
            <a:ext cx="11185855" cy="0"/>
          </a:xfrm>
          <a:prstGeom prst="line">
            <a:avLst/>
          </a:prstGeom>
          <a:ln w="6350">
            <a:solidFill>
              <a:srgbClr val="BFBFBF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11228832" y="658368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