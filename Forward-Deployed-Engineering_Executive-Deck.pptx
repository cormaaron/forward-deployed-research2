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Forward-deployed engineering is emerging as the leading operating model for scaling enterprise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Model differentiators and publicly reported evidence from seven leading organizations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What differentiates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 </a:t>
            </a:r>
            <a:r>
              <a:rPr sz="1050" b="1">
                <a:solidFill>
                  <a:srgbClr val="000000"/>
                </a:solidFill>
                <a:latin typeface="Arial"/>
              </a:rPr>
              <a:t>Embedded in the business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Engineers sit inside business teams, not central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7121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 </a:t>
            </a:r>
            <a:r>
              <a:rPr sz="1050" b="1">
                <a:solidFill>
                  <a:srgbClr val="000000"/>
                </a:solidFill>
                <a:latin typeface="Arial"/>
              </a:rPr>
              <a:t>Problem-led, not spec-led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Work starts from operational problems, not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2102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3.  </a:t>
            </a:r>
            <a:r>
              <a:rPr sz="1050" b="1">
                <a:solidFill>
                  <a:srgbClr val="000000"/>
                </a:solidFill>
                <a:latin typeface="Arial"/>
              </a:rPr>
              <a:t>Rapid iteration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Solutions iterated live with users in days, not quarters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7083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4.  </a:t>
            </a:r>
            <a:r>
              <a:rPr sz="1050" b="1">
                <a:solidFill>
                  <a:srgbClr val="000000"/>
                </a:solidFill>
                <a:latin typeface="Arial"/>
              </a:rPr>
              <a:t>Productization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Proven solutions become reusable platform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82496"/>
            <a:ext cx="68397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Evidence from leading organizations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846320" y="2084831"/>
          <a:ext cx="6839712" cy="33467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87552"/>
                <a:gridCol w="2834640"/>
                <a:gridCol w="30175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Operating model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Publicly reported outcomes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Palantir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Originator of the FDE model; 'Delta' engineers and 'Echo' strategists deploy on-site on Foundry and AIP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US commercial revenue growth accelerated from +64% to +133% YoY over five quarters; 134% net retention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Uber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City teams with local P&amp;L scaled via a central launch playbook; 'Agentic Pods' now embed AI engineers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~400 markets launched; Uber AI Solutions unit now in 30 countries with 50+ enterprise customers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OpenAI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 function (since Jan 2025) embeds with enterprises to take frontier models to production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Enterprise &gt;40% of revenue; 9M business users; $4B deployment venture launched May 2026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ElevenLabs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FDEs co-build production voice agents inside customer infrastructure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$0 to $500M ARR in ~3.5 years; enterprise agent deployments live in 4–8 weeks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Stripe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'Users first' engineering culture; solutions architects embedded in enterprise accounts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$1.9T volume in 2025 (+34% YoY); 90% of Dow Jones constituents run on Stripe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Brex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'Forward Deployed Agent Builders' embed with internal teams to automate core workflows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Onboarding auto-approval 0→40% in weeks; manual identity reviews down 70%; responses 90% faster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Plaid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Embedded customer engineering: solutions engineers and technical account managers own integrations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&gt;$500M ARR in 2025 (~40% YoY), profitable; 1,000+ enterprise customers; &gt;1M new connections daily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846320" y="5596128"/>
            <a:ext cx="6839712" cy="69494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5596128"/>
            <a:ext cx="36576" cy="6949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5596128"/>
            <a:ext cx="6473952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Common pattern:  </a:t>
            </a:r>
            <a:r>
              <a:rPr sz="950" b="0">
                <a:solidFill>
                  <a:srgbClr val="000000"/>
                </a:solidFill>
                <a:latin typeface="Arial"/>
              </a:rPr>
              <a:t>every organization positions engineers at the point of value creation and relies on a platform team to convert local wins into reusable enterprise assets.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Source: company SEC filings, earnings calls, annual letters, blogs and press reporting, 2014–2026; company-by-company detail and citations in backup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Leading organizations consistently deploy the same operating model despite differences in industry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Six shared design principles and how each organization applies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Common design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 engineers alongside business operators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88336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 </a:t>
            </a:r>
            <a:r>
              <a:rPr sz="1050" b="0">
                <a:solidFill>
                  <a:srgbClr val="000000"/>
                </a:solidFill>
                <a:latin typeface="Arial"/>
              </a:rPr>
              <a:t>Observe workflows first-hand before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55264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3.  </a:t>
            </a:r>
            <a:r>
              <a:rPr sz="1050" b="0">
                <a:solidFill>
                  <a:srgbClr val="000000"/>
                </a:solidFill>
                <a:latin typeface="Arial"/>
              </a:rPr>
              <a:t>Deploy small, multidisciplinary pods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22192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4.  </a:t>
            </a:r>
            <a:r>
              <a:rPr sz="1050" b="0">
                <a:solidFill>
                  <a:srgbClr val="000000"/>
                </a:solidFill>
                <a:latin typeface="Arial"/>
              </a:rPr>
              <a:t>Run rapid build–measure–learn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8912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5.  </a:t>
            </a:r>
            <a:r>
              <a:rPr sz="1050" b="0">
                <a:solidFill>
                  <a:srgbClr val="000000"/>
                </a:solidFill>
                <a:latin typeface="Arial"/>
              </a:rPr>
              <a:t>Productize successful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56048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6.  </a:t>
            </a:r>
            <a:r>
              <a:rPr sz="1050" b="0">
                <a:solidFill>
                  <a:srgbClr val="000000"/>
                </a:solidFill>
                <a:latin typeface="Arial"/>
              </a:rPr>
              <a:t>Continuously strengthen the enterprise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682496"/>
            <a:ext cx="6675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How each organization applies 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83480" y="212140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4983480" y="219456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Palantir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1401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On-site 'Deltas' build; 'Echoes' own the domain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AIP bootcamps as the primary sales motion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Land and expand enterprise accounts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2140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8458200" y="219456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Uber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1401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City GMs with P&amp;L; central launch playbook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Playbook refined across ~400 market launches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Market entry speed; now sold externally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83480" y="316382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4983480" y="323697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OpenAI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45643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 pods in enterprise accounts since 2025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Frontier research proximity; $4B deployment arm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Production agent deployments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58200" y="316382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8458200" y="323697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ElevenLabs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45643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FDEs co-build in customer infrastructure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Voice specialization; live in 4–8 weeks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Fastest path to production voice agents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83480" y="420623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4983480" y="427939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Stripe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49884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Engineers work backwards from users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Customers inside the exec cadence; friction logs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Product velocity from user contact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58200" y="420623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8458200" y="427939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Brex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49884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Forward-deployed agent builders in internal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Adoption tied to reviews, hiring and bonuses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AI-native operations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983480" y="524865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4983480" y="532180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Plaid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554126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Solutions engineers embedded in integrations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Product pods co-develop with customers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Faster, stickier network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5303517"/>
            <a:ext cx="3319272" cy="932687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5303517"/>
            <a:ext cx="36576" cy="93268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1080" y="5303517"/>
            <a:ext cx="2953512" cy="9326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Arial"/>
              </a:rPr>
              <a:t>Same blueprint:  </a:t>
            </a:r>
            <a:r>
              <a:rPr sz="850" b="0">
                <a:solidFill>
                  <a:srgbClr val="000000"/>
                </a:solidFill>
                <a:latin typeface="Arial"/>
              </a:rPr>
              <a:t>proximity to operations, speed of iteration and platform leverage — applied to different industries.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Source: company engineering blogs, careers pages and public statements; detail and citations in backup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Forward-deployed engineering fundamentally changes how technology organizations create value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Comparison of the traditional and forward-deployed delivery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5349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Traditional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6792" y="1682496"/>
            <a:ext cx="5349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Forward-deployed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34540" y="2066543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Business</a:t>
            </a:r>
          </a:p>
        </p:txBody>
      </p:sp>
      <p:sp>
        <p:nvSpPr>
          <p:cNvPr id="8" name="Down Arrow 7"/>
          <p:cNvSpPr/>
          <p:nvPr/>
        </p:nvSpPr>
        <p:spPr>
          <a:xfrm>
            <a:off x="3131820" y="2359151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34540" y="2468879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Requirements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31820" y="2761487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4540" y="2871215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Engineering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131820" y="3163823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3273551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Testing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31820" y="3566159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34540" y="3675887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Deployment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131820" y="3968495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34540" y="4078223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Business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7200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Structural weaknesses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4632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Intent degrades at every handoff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Feedback arrives only after deployment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Cycle times measured in quarters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Business and IT optimize different goals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4092" y="201168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Business team</a:t>
            </a:r>
          </a:p>
        </p:txBody>
      </p:sp>
      <p:sp>
        <p:nvSpPr>
          <p:cNvPr id="21" name="Up-Down Arrow 20"/>
          <p:cNvSpPr/>
          <p:nvPr/>
        </p:nvSpPr>
        <p:spPr>
          <a:xfrm>
            <a:off x="8965692" y="235915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94092" y="251460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Embedded engineer</a:t>
            </a:r>
          </a:p>
        </p:txBody>
      </p:sp>
      <p:sp>
        <p:nvSpPr>
          <p:cNvPr id="23" name="Up-Down Arrow 22"/>
          <p:cNvSpPr/>
          <p:nvPr/>
        </p:nvSpPr>
        <p:spPr>
          <a:xfrm>
            <a:off x="8965692" y="286207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94092" y="301752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AI builder</a:t>
            </a:r>
          </a:p>
        </p:txBody>
      </p:sp>
      <p:sp>
        <p:nvSpPr>
          <p:cNvPr id="25" name="Up-Down Arrow 24"/>
          <p:cNvSpPr/>
          <p:nvPr/>
        </p:nvSpPr>
        <p:spPr>
          <a:xfrm>
            <a:off x="8965692" y="336499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94092" y="352044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Platform team</a:t>
            </a:r>
          </a:p>
        </p:txBody>
      </p:sp>
      <p:sp>
        <p:nvSpPr>
          <p:cNvPr id="27" name="Up-Down Arrow 26"/>
          <p:cNvSpPr/>
          <p:nvPr/>
        </p:nvSpPr>
        <p:spPr>
          <a:xfrm>
            <a:off x="8965692" y="386791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94092" y="4023360"/>
            <a:ext cx="2834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000000"/>
                </a:solidFill>
                <a:latin typeface="Arial"/>
              </a:rPr>
              <a:t>Reusable enterprise capability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57200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Structural benefits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84632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Problems observed first-hand, not translated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Working software in days; feedback continuous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Every deployment compounds into a shared platform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One team accountable for the business outcome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52160"/>
            <a:ext cx="11185855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52160"/>
            <a:ext cx="36576" cy="5120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52160"/>
            <a:ext cx="108200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Bottom line:  </a:t>
            </a:r>
            <a:r>
              <a:rPr sz="950" b="0">
                <a:solidFill>
                  <a:srgbClr val="000000"/>
                </a:solidFill>
                <a:latin typeface="Arial"/>
              </a:rPr>
              <a:t>the traditional model manages requirements across handoffs; the forward-deployed model removes the handoffs — compressing learning cycles from quarters to days and converting each win into enterprise capability.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A forward-deployed engineering capability requires changes across operating model, governance and talent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Design requirements across five dimensions of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Operating 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Domain-aligned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Dedicated embedded engineers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Central platform enablement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Rotation between pod and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Executive sponsor per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6118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Talent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6118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2776118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Product-minded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6118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Business-domain fluency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6118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Applied AI engineering depth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6118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Distinct FDE career track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6118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Incentives tied to business 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9316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Technology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49316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049316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Shared enterprise AI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9316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Reusable components and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9316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Governed data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9316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Observability and 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9316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Fast sandbox-to-production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2514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Governance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22514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7322514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Clear domain ownership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2514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Portfolio-based funding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14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Security and data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14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AI risk 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14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Stage-gates for productization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95712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Success metrics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595712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9595712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Time from problem to 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5712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Business-user adoption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5712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Productivity and cost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5712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Platform reuse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5712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Customer and P&amp;L outcomes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596128"/>
            <a:ext cx="11185855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596128"/>
            <a:ext cx="36576" cy="7498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596128"/>
            <a:ext cx="108200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Recommendation:  </a:t>
            </a:r>
            <a:r>
              <a:rPr sz="1050" b="0">
                <a:solidFill>
                  <a:srgbClr val="000000"/>
                </a:solidFill>
                <a:latin typeface="Arial"/>
              </a:rPr>
              <a:t>stand up two to three forward-deployed pods in high-value domains within 90 days, fund a shared platform team from day one, and scale only what demonstrates measured business impact.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88036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Arial"/>
              </a:rPr>
              <a:t>Backup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3401568"/>
            <a:ext cx="2011680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3547872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One-pager per exemplar: model, motivation, differentiation and impact — with published data, quotes and citations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Palantir created the forward-deployed model and built its commercial engine around it</a:t>
            </a:r>
          </a:p>
        </p:txBody>
      </p:sp>
      <p:pic>
        <p:nvPicPr>
          <p:cNvPr id="3" name="Picture 2" descr="palan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Palantir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'Delta' engineers write production code on site; 'Echo' strategists own the domain problem</a:t>
            </a:r>
            <a:r>
              <a:rPr sz="700" b="0">
                <a:solidFill>
                  <a:srgbClr val="8C8C8C"/>
                </a:solidFill>
                <a:latin typeface="Arial"/>
              </a:rPr>
              <a:t>  (Palantir blog)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 teams build the platforms; Deltas deploy them at the customer — field work feeds the roadmap</a:t>
            </a:r>
            <a:r>
              <a:rPr sz="700" b="0">
                <a:solidFill>
                  <a:srgbClr val="8C8C8C"/>
                </a:solidFill>
                <a:latin typeface="Arial"/>
              </a:rPr>
              <a:t>  (Palantir blog)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AIP bootcamps: 1–5-day builds on the customer's own data, launched Sept 2023</a:t>
            </a:r>
            <a:r>
              <a:rPr sz="700" b="0">
                <a:solidFill>
                  <a:srgbClr val="8C8C8C"/>
                </a:solidFill>
                <a:latin typeface="Arial"/>
              </a:rPr>
              <a:t>  (Palantir blog)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Government and industrial clients could not specify requirements upfront; FDE role created ~2006 by Shyam Sankar, employee #13, now CTO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Months-long pilots failed to prove value; bootcamps compress “what used to take three months” into days</a:t>
            </a:r>
            <a:r>
              <a:rPr sz="700" b="0">
                <a:solidFill>
                  <a:srgbClr val="8C8C8C"/>
                </a:solidFill>
                <a:latin typeface="Arial"/>
              </a:rPr>
              <a:t>  (Q1 2024 earnings call)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Bootcamps are the primary go-to-market, not a services add-on: 560+ run across 465 organizations in the first four months</a:t>
            </a:r>
            <a:r>
              <a:rPr sz="700" b="0">
                <a:solidFill>
                  <a:srgbClr val="8C8C8C"/>
                </a:solidFill>
                <a:latin typeface="Arial"/>
              </a:rPr>
              <a:t>  (Q4 2023 earnings call)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Described by Bloomberg as Palantir's “AI sales secret weapon”; cited 21 times on one earnings call</a:t>
            </a:r>
            <a:r>
              <a:rPr sz="700" b="0">
                <a:solidFill>
                  <a:srgbClr val="8C8C8C"/>
                </a:solidFill>
                <a:latin typeface="Arial"/>
              </a:rPr>
              <a:t>  (Bloomberg, Apr 2024)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Model now copied by OpenAI, Anthropic and defense tech</a:t>
            </a:r>
            <a:r>
              <a:rPr sz="700" b="0">
                <a:solidFill>
                  <a:srgbClr val="8C8C8C"/>
                </a:solidFill>
                <a:latin typeface="Arial"/>
              </a:rPr>
              <a:t>  (Forbes, Jul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US commercial revenue growth accelerated from +64% to +133% YoY across five quarters</a:t>
            </a:r>
            <a:r>
              <a:rPr sz="700" b="0">
                <a:solidFill>
                  <a:srgbClr val="8C8C8C"/>
                </a:solidFill>
                <a:latin typeface="Arial"/>
              </a:rPr>
              <a:t>  (SEC filings, Q4 2024–Q1 2026)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Seven-figure deals signed 5 and 16 days after bootcamps</a:t>
            </a:r>
            <a:r>
              <a:rPr sz="700" b="0">
                <a:solidFill>
                  <a:srgbClr val="8C8C8C"/>
                </a:solidFill>
                <a:latin typeface="Arial"/>
              </a:rPr>
              <a:t>  (2024 earnings calls)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Net dollar retention 134%; $2.8B total contract value closed in a single quarter</a:t>
            </a:r>
            <a:r>
              <a:rPr sz="700" b="0">
                <a:solidFill>
                  <a:srgbClr val="8C8C8C"/>
                </a:solidFill>
                <a:latin typeface="Arial"/>
              </a:rPr>
              <a:t>  (Q3 2025 earnings)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230368"/>
            <a:ext cx="11185855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230368"/>
            <a:ext cx="36576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30368"/>
            <a:ext cx="10783519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“In October, we set a goal of executing 500 AIP bootcamps within one year. We have already blown that goal out of the water, having completed more than 560 bootcamps across 465 organizations to-date.”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— Ryan Taylor, Chief Revenue Officer, Q4 2023 earnings call, Feb 2024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Sources: Palantir SEC 8-K filings and earnings-call transcripts, Q4 2023–Q1 2026; Palantir blog ('Dev versus Delta'; AIP bootcamps); Bloomberg (Apr 23, 2024); Forbes (Jul 10, 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Uber scaled city by city on embedded operating teams — and now sells the deployment model it built</a:t>
            </a:r>
          </a:p>
        </p:txBody>
      </p:sp>
      <p:pic>
        <p:nvPicPr>
          <p:cNvPr id="3" name="Picture 2" descr="u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Uber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City teams ran with local P&amp;L: a general manager — “the CEO of the city” — plus operations and marketing leads</a:t>
            </a:r>
            <a:r>
              <a:rPr sz="700" b="0">
                <a:solidFill>
                  <a:srgbClr val="8C8C8C"/>
                </a:solidFill>
                <a:latin typeface="Arial"/>
              </a:rPr>
              <a:t>  (Fortune, 2015)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 central launcher team parachuted in with a continuously updated playbook, then handed off</a:t>
            </a:r>
            <a:r>
              <a:rPr sz="700" b="0">
                <a:solidFill>
                  <a:srgbClr val="8C8C8C"/>
                </a:solidFill>
                <a:latin typeface="Arial"/>
              </a:rPr>
              <a:t>  (Bloomberg, 2014)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2026: 'Agentic Pods' embed Uber's most AI-proficient engineers in finance, legal and HR</a:t>
            </a:r>
            <a:r>
              <a:rPr sz="700" b="0">
                <a:solidFill>
                  <a:srgbClr val="8C8C8C"/>
                </a:solidFill>
                <a:latin typeface="Arial"/>
              </a:rPr>
              <a:t>  (Pragmatic Engineer,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Every market behaved differently; central roadmaps were too slow for winner-take-most competition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Launch speed was existential — a new city opened every other day at the late-2014 peak</a:t>
            </a:r>
            <a:r>
              <a:rPr sz="700" b="0">
                <a:solidFill>
                  <a:srgbClr val="8C8C8C"/>
                </a:solidFill>
                <a:latin typeface="Arial"/>
              </a:rPr>
              <a:t>  (Bloomberg, Nov 2014)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Ops-led with local P&amp;L ownership; playbook codified learnings across ~400 market launches</a:t>
            </a:r>
            <a:r>
              <a:rPr sz="700" b="0">
                <a:solidFill>
                  <a:srgbClr val="8C8C8C"/>
                </a:solidFill>
                <a:latin typeface="Arial"/>
              </a:rPr>
              <a:t>  (Fortune, 2015)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The capability became a product: Uber AI Solutions sells data, evaluation and deployment services externally</a:t>
            </a:r>
            <a:r>
              <a:rPr sz="700" b="0">
                <a:solidFill>
                  <a:srgbClr val="8C8C8C"/>
                </a:solidFill>
                <a:latin typeface="Arial"/>
              </a:rPr>
              <a:t>  (Uber, Jun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66 to 266 cities in 2014 alone; 10,000+ cities today</a:t>
            </a:r>
            <a:r>
              <a:rPr sz="700" b="0">
                <a:solidFill>
                  <a:srgbClr val="8C8C8C"/>
                </a:solidFill>
                <a:latin typeface="Arial"/>
              </a:rPr>
              <a:t>  (Forbes, 2014; Uber Newsroom)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Uber AI Solutions reached 30 countries and 50+ corporate customers by mid-2025</a:t>
            </a:r>
            <a:r>
              <a:rPr sz="700" b="0">
                <a:solidFill>
                  <a:srgbClr val="8C8C8C"/>
                </a:solidFill>
                <a:latin typeface="Arial"/>
              </a:rPr>
              <a:t>  (Uber IR; Forbes, Jun 2025)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16 internal AI pods completed in the program's first two months</a:t>
            </a:r>
            <a:r>
              <a:rPr sz="700" b="0">
                <a:solidFill>
                  <a:srgbClr val="8C8C8C"/>
                </a:solidFill>
                <a:latin typeface="Arial"/>
              </a:rPr>
              <a:t>  (2026)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230368"/>
            <a:ext cx="11185855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230368"/>
            <a:ext cx="36576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30368"/>
            <a:ext cx="10783519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“We're bringing together Uber's platform, people, and AI systems to help other organizations build smarter AI more quickly.”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— Megha Yethadka, GM, Uber AI Solutions, press release, Jun 2025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Sources: Uber IR press release (Jun 20, 2025); Forbes (Dec 2014; Jun 2025); Bloomberg Businessweek (Nov 2014); Fortune (Sept 2015); Uber Newsroom; Pragmatic Engineer (2026)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OpenAI built a forward-deployed function to turn frontier models into deployed enterprise systems</a:t>
            </a:r>
          </a:p>
        </p:txBody>
      </p:sp>
      <p:pic>
        <p:nvPicPr>
          <p:cNvPr id="3" name="Picture 2" descr="open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OpenAI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FDE function created Jan 2025 under Colin Jarvis; pods own discovery through production, with ~50% travel</a:t>
            </a:r>
            <a:r>
              <a:rPr sz="700" b="0">
                <a:solidFill>
                  <a:srgbClr val="8C8C8C"/>
                </a:solidFill>
                <a:latin typeface="Arial"/>
              </a:rPr>
              <a:t>  (OpenAI careers)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Engagements priced from $10M; clients include Morgan Stanley, T-Mobile and the US Department of Defense</a:t>
            </a:r>
            <a:r>
              <a:rPr sz="700" b="0">
                <a:solidFill>
                  <a:srgbClr val="8C8C8C"/>
                </a:solidFill>
                <a:latin typeface="Arial"/>
              </a:rPr>
              <a:t>  (The Information, Jul 2025)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May 2026: model spun into the OpenAI Deployment Company with $4B committed and ~150 FDEs via the Tomoro acquisition</a:t>
            </a:r>
            <a:r>
              <a:rPr sz="700" b="0">
                <a:solidFill>
                  <a:srgbClr val="8C8C8C"/>
                </a:solidFill>
                <a:latin typeface="Arial"/>
              </a:rPr>
              <a:t>  (OpenAI, May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Model capability outpaced enterprises' ability to absorb it; API access alone did not convert to production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Playbook imported deliberately — many early FDE hires came from Palantir</a:t>
            </a:r>
            <a:r>
              <a:rPr sz="700" b="0">
                <a:solidFill>
                  <a:srgbClr val="8C8C8C"/>
                </a:solidFill>
                <a:latin typeface="Arial"/>
              </a:rPr>
              <a:t>  (The Information, Jul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Frontier research proximity inside customer accounts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Scaled beyond internal hiring: a majority-owned deployment venture plus alliances with McKinsey, BCG, Accenture and Capgemini</a:t>
            </a:r>
            <a:r>
              <a:rPr sz="700" b="0">
                <a:solidFill>
                  <a:srgbClr val="8C8C8C"/>
                </a:solidFill>
                <a:latin typeface="Arial"/>
              </a:rPr>
              <a:t>  (OpenAI, May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Enterprise is now &gt;40% of revenue, tracking to parity with consumer by end-2026</a:t>
            </a:r>
            <a:r>
              <a:rPr sz="700" b="0">
                <a:solidFill>
                  <a:srgbClr val="8C8C8C"/>
                </a:solidFill>
                <a:latin typeface="Arial"/>
              </a:rPr>
              <a:t>  (OpenAI, 2026)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9M paying business users in Feb 2026, up from 3M in Jun 2025</a:t>
            </a:r>
            <a:r>
              <a:rPr sz="700" b="0">
                <a:solidFill>
                  <a:srgbClr val="8C8C8C"/>
                </a:solidFill>
                <a:latin typeface="Arial"/>
              </a:rPr>
              <a:t>  (OpenAI; CNBC)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Go-to-market organization grew from ~50 to 700+ people in 18 months</a:t>
            </a:r>
            <a:r>
              <a:rPr sz="700" b="0">
                <a:solidFill>
                  <a:srgbClr val="8C8C8C"/>
                </a:solidFill>
                <a:latin typeface="Arial"/>
              </a:rPr>
              <a:t>  (CNBC, Aug 2025)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230368"/>
            <a:ext cx="11185855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230368"/>
            <a:ext cx="36576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30368"/>
            <a:ext cx="10783519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“I see our responsibility as both building the tools and being, in some ways, the most knowledgeable people in the world on how to deploy them.”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— Brad Lightcap, COO, OpenAI, CNBC, Aug 2025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Sources: OpenAI announcements and careers pages (2025–26); CNBC (Jun 2025; Aug 2025; May 2026); The Information via The Decoder and Business Standard (Jul 2025)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ElevenLabs uses forward-deployed engineers to compress time-to-production for enterprise voice agents</a:t>
            </a:r>
          </a:p>
        </p:txBody>
      </p:sp>
      <p:pic>
        <p:nvPicPr>
          <p:cNvPr id="3" name="Picture 2" descr="elevenl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ElevenLabs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FDEs work “shoulder-to-shoulder with customers, from pre-sales evaluation through post-sales implementation”, building inside customer infrastructure</a:t>
            </a:r>
            <a:r>
              <a:rPr sz="700" b="0">
                <a:solidFill>
                  <a:srgbClr val="8C8C8C"/>
                </a:solidFill>
                <a:latin typeface="Arial"/>
              </a:rPr>
              <a:t>  (ElevenLabs careers)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Engagements go from scoping to live deployment in 4–8 weeks</a:t>
            </a:r>
            <a:r>
              <a:rPr sz="700" b="0">
                <a:solidFill>
                  <a:srgbClr val="8C8C8C"/>
                </a:solidFill>
                <a:latin typeface="Arial"/>
              </a:rPr>
              <a:t>  (ElevenLabs)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Multi-track FDE organization — engineers, strategists and graduates — hiring across three continents</a:t>
            </a:r>
            <a:r>
              <a:rPr sz="700" b="0">
                <a:solidFill>
                  <a:srgbClr val="8C8C8C"/>
                </a:solidFill>
                <a:latin typeface="Arial"/>
              </a:rPr>
              <a:t>  (ElevenLabs careers)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CEO Mati Staniszewski is an ex-Palantir deployment strategist; the model was imported deliberately</a:t>
            </a:r>
            <a:r>
              <a:rPr sz="700" b="0">
                <a:solidFill>
                  <a:srgbClr val="8C8C8C"/>
                </a:solidFill>
                <a:latin typeface="Arial"/>
              </a:rPr>
              <a:t>  (Sifted, Mar 2025)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Enterprise buyers demanded production voice agents, not demos; four ex-Palantir FDEs hired through 2024</a:t>
            </a:r>
            <a:r>
              <a:rPr sz="700" b="0">
                <a:solidFill>
                  <a:srgbClr val="8C8C8C"/>
                </a:solidFill>
                <a:latin typeface="Arial"/>
              </a:rPr>
              <a:t>  (Sifted, Mar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Deep voice specialization with compliance built in: SOC 2, GDPR, HIPAA, zero-retention options</a:t>
            </a:r>
            <a:r>
              <a:rPr sz="700" b="0">
                <a:solidFill>
                  <a:srgbClr val="8C8C8C"/>
                </a:solidFill>
                <a:latin typeface="Arial"/>
              </a:rPr>
              <a:t>  (ElevenLabs)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FDEs “have helped hundreds of enterprises launch AI agents”</a:t>
            </a:r>
            <a:r>
              <a:rPr sz="700" b="0">
                <a:solidFill>
                  <a:srgbClr val="8C8C8C"/>
                </a:solidFill>
                <a:latin typeface="Arial"/>
              </a:rPr>
              <a:t>  (ElevenLabs)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ARR: $100M in 20 months, $200M in 10, $330M in 5; $500M by May 2026</a:t>
            </a:r>
            <a:r>
              <a:rPr sz="700" b="0">
                <a:solidFill>
                  <a:srgbClr val="8C8C8C"/>
                </a:solidFill>
                <a:latin typeface="Arial"/>
              </a:rPr>
              <a:t>  (TechCrunch, Jan 2026; ElevenLabs)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$500M Series D at an $11B valuation, Feb 2026 (Sequoia-led)</a:t>
            </a:r>
            <a:r>
              <a:rPr sz="700" b="0">
                <a:solidFill>
                  <a:srgbClr val="8C8C8C"/>
                </a:solidFill>
                <a:latin typeface="Arial"/>
              </a:rPr>
              <a:t>  (TechCrunch, Feb 2026)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Revolut: agents serve 4M+ customers in 30+ languages; ticket resolution cut by more than 8x</a:t>
            </a:r>
            <a:r>
              <a:rPr sz="700" b="0">
                <a:solidFill>
                  <a:srgbClr val="8C8C8C"/>
                </a:solidFill>
                <a:latin typeface="Arial"/>
              </a:rPr>
              <a:t>  (ElevenLabs, Jan 2026)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230368"/>
            <a:ext cx="11185855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230368"/>
            <a:ext cx="36576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30368"/>
            <a:ext cx="10783519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“It took us 20 months to reach $100 million in ARR, 10 months to reach $200 million, and five months to reach the current number.”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— Mati Staniszewski, co-founder and CEO, Bloomberg interview, Jan 2026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Sources: ElevenLabs blog and careers pages (2025–26); TechCrunch (Jan 30, 2025; Jan 13 and Feb 4, 2026); CNBC (Feb and May 2026); Sifted (Mar 2025)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Stripe institutionalized user-proximate engineering a decade before it had a name</a:t>
            </a:r>
          </a:p>
        </p:txBody>
      </p:sp>
      <p:pic>
        <p:nvPicPr>
          <p:cNvPr id="3" name="Picture 2" descr="str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Stripe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“Users first” is a codified operating principle: work backwards from user needs</a:t>
            </a:r>
            <a:r>
              <a:rPr sz="700" b="0">
                <a:solidFill>
                  <a:srgbClr val="8C8C8C"/>
                </a:solidFill>
                <a:latin typeface="Arial"/>
              </a:rPr>
              <a:t>  (stripe.com)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 customer joins the first 30 minutes of the executive team meeting every other week, before ~40 leaders</a:t>
            </a:r>
            <a:r>
              <a:rPr sz="700" b="0">
                <a:solidFill>
                  <a:srgbClr val="8C8C8C"/>
                </a:solidFill>
                <a:latin typeface="Arial"/>
              </a:rPr>
              <a:t>  (P. Collison, Apr 2025)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Friction logging: engineers and leaders walk product flows as users and log every snag</a:t>
            </a:r>
            <a:r>
              <a:rPr sz="700" b="0">
                <a:solidFill>
                  <a:srgbClr val="8C8C8C"/>
                </a:solidFill>
                <a:latin typeface="Arial"/>
              </a:rPr>
              <a:t>  (Stripe DevRel)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Solutions architects and professional services embedded in enterprise accounts</a:t>
            </a:r>
            <a:r>
              <a:rPr sz="700" b="0">
                <a:solidFill>
                  <a:srgbClr val="8C8C8C"/>
                </a:solidFill>
                <a:latin typeface="Arial"/>
              </a:rPr>
              <a:t>  (stripe.com)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 developer-first product required first-hand user understanding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Stripe ran for years without product managers — engineers own scoping and user contact</a:t>
            </a:r>
            <a:r>
              <a:rPr sz="700" b="0">
                <a:solidFill>
                  <a:srgbClr val="8C8C8C"/>
                </a:solidFill>
                <a:latin typeface="Arial"/>
              </a:rPr>
              <a:t>  (Pragmatic Engineer, 2023)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Cultural rather than organizational: proximity is expected of every engineer and screened in interviews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Onboarding puts every hire in front of users: build an integration, answer real support tickets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$1.9T processed in 2025, +34% YoY — roughly 1.6% of global GDP</a:t>
            </a:r>
            <a:r>
              <a:rPr sz="700" b="0">
                <a:solidFill>
                  <a:srgbClr val="8C8C8C"/>
                </a:solidFill>
                <a:latin typeface="Arial"/>
              </a:rPr>
              <a:t>  (2025 annual letter)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90% of Dow Jones constituents and 80% of the Nasdaq 100 run on Stripe</a:t>
            </a:r>
            <a:r>
              <a:rPr sz="700" b="0">
                <a:solidFill>
                  <a:srgbClr val="8C8C8C"/>
                </a:solidFill>
                <a:latin typeface="Arial"/>
              </a:rPr>
              <a:t>  (2025 annual letter)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Businesses on Stripe grew ~7x faster than S&amp;P 500 revenue in aggregate</a:t>
            </a:r>
            <a:r>
              <a:rPr sz="700" b="0">
                <a:solidFill>
                  <a:srgbClr val="8C8C8C"/>
                </a:solidFill>
                <a:latin typeface="Arial"/>
              </a:rPr>
              <a:t>  (2024 annual letter)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230368"/>
            <a:ext cx="11185855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230368"/>
            <a:ext cx="36576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30368"/>
            <a:ext cx="10783519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“Every other week, we have a customer join for the first 30 minutes of our management team meeting: they share their candid feedback, and ~40 leaders from across Stripe listen.”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— Patrick Collison, co-founder and CEO, Apr 2025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Sources: Stripe annual letters (Feb 2025; Feb 2026); Stripe operating principles (stripe.com/jobs/culture); TechCrunch (Apr 2025); The Pragmatic Engineer (Dec 2023)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4086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Brex points its forward-deployed engineers inward, rebuilding its own operations around AI</a:t>
            </a:r>
          </a:p>
        </p:txBody>
      </p:sp>
      <p:pic>
        <p:nvPicPr>
          <p:cNvPr id="3" name="Picture 2" descr="br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274320"/>
            <a:ext cx="457200" cy="457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Brex — model, motivation, differentiation and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02920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 formal role: 'Forward Deployed Agent Builder' engineers “embed with partner teams”, shadow the work, then ship agents that take over workflows</a:t>
            </a:r>
            <a:r>
              <a:rPr sz="700" b="0">
                <a:solidFill>
                  <a:srgbClr val="8C8C8C"/>
                </a:solidFill>
                <a:latin typeface="Arial"/>
              </a:rPr>
              <a:t>  (Brex careers)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Three-pillar strategy: corporate AI, operational AI (owned by the COO) and product AI</a:t>
            </a:r>
            <a:r>
              <a:rPr sz="700" b="0">
                <a:solidFill>
                  <a:srgbClr val="8C8C8C"/>
                </a:solidFill>
                <a:latin typeface="Arial"/>
              </a:rPr>
              <a:t>  (Latent.Space, Feb 2026)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~1,000 approved AI tools; each engineer holds a $50/month self-serve budget</a:t>
            </a:r>
            <a:r>
              <a:rPr sz="700" b="0">
                <a:solidFill>
                  <a:srgbClr val="8C8C8C"/>
                </a:solidFill>
                <a:latin typeface="Arial"/>
              </a:rPr>
              <a:t>  (TechCrunch, Jul 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355848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The founding question: “If we were starting Brex today, how would we build?”</a:t>
            </a:r>
            <a:r>
              <a:rPr sz="700" b="0">
                <a:solidFill>
                  <a:srgbClr val="8C8C8C"/>
                </a:solidFill>
                <a:latin typeface="Arial"/>
              </a:rPr>
              <a:t>  (Brex Journal, Aug 2025)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Fintech margin pressure demanded step-change productivity; BPO strategy shifted to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08776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Adoption is engineered, not assumed: four AI-fluency levels feed performance reviews; coding interviews require AI</a:t>
            </a:r>
            <a:r>
              <a:rPr sz="700" b="0">
                <a:solidFill>
                  <a:srgbClr val="8C8C8C"/>
                </a:solidFill>
                <a:latin typeface="Arial"/>
              </a:rPr>
              <a:t>  (Semafor, Sept 2025)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225+ spot bonuses paid for employee AI projects</a:t>
            </a:r>
            <a:r>
              <a:rPr sz="700" b="0">
                <a:solidFill>
                  <a:srgbClr val="8C8C8C"/>
                </a:solidFill>
                <a:latin typeface="Arial"/>
              </a:rPr>
              <a:t>  (Dec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061704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Onboarding rebuilt around agents: auto-approval from 0% to 40% in weeks; manual identity reviews down 70%</a:t>
            </a:r>
            <a:r>
              <a:rPr sz="700" b="0">
                <a:solidFill>
                  <a:srgbClr val="8C8C8C"/>
                </a:solidFill>
                <a:latin typeface="Arial"/>
              </a:rPr>
              <a:t>  (Brex Journal, Jan 2026)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Customer responses 90% faster; ~15,000 customer hours saved per year</a:t>
            </a:r>
            <a:r>
              <a:rPr sz="700" b="0">
                <a:solidFill>
                  <a:srgbClr val="8C8C8C"/>
                </a:solidFill>
                <a:latin typeface="Arial"/>
              </a:rPr>
              <a:t>  (First Round, 2025)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Onboarding time cut from days to minutes</a:t>
            </a:r>
            <a:r>
              <a:rPr sz="700" b="0">
                <a:solidFill>
                  <a:srgbClr val="8C8C8C"/>
                </a:solidFill>
                <a:latin typeface="Arial"/>
              </a:rPr>
              <a:t>  (Brex Journal, Jan 2026)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230368"/>
            <a:ext cx="11185855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230368"/>
            <a:ext cx="36576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30368"/>
            <a:ext cx="10783519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“I knew we needed to be AI-native on all our manual tasks, which meant shifting our BPO strategy, which meant agents doing the work, which meant managers overseeing agents and people.”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— Camilla Matias, COO, Brex, First Round Review, 2025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Sources: Brex Journal (Aug 2025; Jan 2026); Brex careers ('Forward Deployed Agent Builder'); TechCrunch (Jul 2025); First Round Review (2025); Semafor (Sept 2025); Latent.Space (Feb 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Plaid runs forward deployment in all but name: embedded engineers drive integration and expansion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Plaid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 'Customer Engineering &amp; Solutions' organization: solutions engineers design and implement customer integrations</a:t>
            </a:r>
            <a:r>
              <a:rPr sz="700" b="0">
                <a:solidFill>
                  <a:srgbClr val="8C8C8C"/>
                </a:solidFill>
                <a:latin typeface="Arial"/>
              </a:rPr>
              <a:t>  (Plaid careers)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Technical account managers own post-sales technical strategy and track integration health and adoption</a:t>
            </a:r>
            <a:r>
              <a:rPr sz="700" b="0">
                <a:solidFill>
                  <a:srgbClr val="8C8C8C"/>
                </a:solidFill>
                <a:latin typeface="Arial"/>
              </a:rPr>
              <a:t>  (Plaid careers)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 engineers work in pods that iterate with selected customers before building anything</a:t>
            </a:r>
            <a:r>
              <a:rPr sz="700" b="0">
                <a:solidFill>
                  <a:srgbClr val="8C8C8C"/>
                </a:solidFill>
                <a:latin typeface="Arial"/>
              </a:rPr>
              <a:t>  (Plaid blog, 2022)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Bank-data integrations gate customer revenue; complexity exceeded documentation-led support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Expansion is driven by embedded technical staff, not by sales alone</a:t>
            </a:r>
            <a:r>
              <a:rPr sz="700" b="0">
                <a:solidFill>
                  <a:srgbClr val="8C8C8C"/>
                </a:solidFill>
                <a:latin typeface="Arial"/>
              </a:rPr>
              <a:t>  (Plaid careers)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Forward-deployed outcomes without the title — the embedded roles sit in solutions engineering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Developer experience as strategy: “a few lines of code” to reach thousands of institutions</a:t>
            </a:r>
            <a:r>
              <a:rPr sz="700" b="0">
                <a:solidFill>
                  <a:srgbClr val="8C8C8C"/>
                </a:solidFill>
                <a:latin typeface="Arial"/>
              </a:rPr>
              <a:t>  (Plaid docs)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194560"/>
            <a:ext cx="262432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&gt;$500M ARR in 2025, ~40% YoY, profitable</a:t>
            </a:r>
            <a:r>
              <a:rPr sz="700" b="0">
                <a:solidFill>
                  <a:srgbClr val="8C8C8C"/>
                </a:solidFill>
                <a:latin typeface="Arial"/>
              </a:rPr>
              <a:t>  (2025 shareholder letter)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1,000+ enterprise customers of ~8,000 total by mid-2024</a:t>
            </a:r>
            <a:r>
              <a:rPr sz="700" b="0">
                <a:solidFill>
                  <a:srgbClr val="8C8C8C"/>
                </a:solidFill>
                <a:latin typeface="Arial"/>
              </a:rPr>
              <a:t>  (TechCrunch, Jun 2024)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&gt;1M new data connections daily; 12,000+ institutions; 1 in 2 US adults have connected via Plaid</a:t>
            </a:r>
            <a:r>
              <a:rPr sz="700" b="0">
                <a:solidFill>
                  <a:srgbClr val="8C8C8C"/>
                </a:solidFill>
                <a:latin typeface="Arial"/>
              </a:rPr>
              <a:t>  (Plaid, 2026)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230368"/>
            <a:ext cx="11185855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230368"/>
            <a:ext cx="36576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230368"/>
            <a:ext cx="10783519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“We're trying to identify the lowest level engineer, [and] build a fantastic experience for them… Someone's able to quickly build something in our sandbox.”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— Zach Perret, co-founder and CEO, 2020 interview (via Contrary Research)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02920" y="656539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8C8C8C"/>
                </a:solidFill>
                <a:latin typeface="Arial"/>
              </a:rPr>
              <a:t>Sources: Plaid 2025 shareholder letter (Jan 2026); Plaid careers and blog; TechCrunch (Jun 2024; Apr 2025); Bloomberg (Jan 2025); Contrary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