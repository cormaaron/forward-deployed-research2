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Arial"/>
              </a:rPr>
              <a:t>Forward-deployed engineering is emerging as the leading operating model for scaling enterprise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36A71"/>
                </a:solidFill>
                <a:latin typeface="Arial"/>
              </a:rPr>
              <a:t>Leading AI-native organizations are embedding engineers directly within business teams to accelerate workflow automation, increase adoption and continuously improve enterprise platforms.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426464"/>
            <a:ext cx="11185855" cy="0"/>
          </a:xfrm>
          <a:prstGeom prst="line">
            <a:avLst/>
          </a:prstGeom>
          <a:ln w="17780">
            <a:solidFill>
              <a:srgbClr val="102A43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02920" y="162763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WHAT DIFFERENTIATES THE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883664"/>
            <a:ext cx="384048" cy="0"/>
          </a:xfrm>
          <a:prstGeom prst="line">
            <a:avLst/>
          </a:prstGeom>
          <a:ln w="28575">
            <a:solidFill>
              <a:srgbClr val="2E74B5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10312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093976"/>
            <a:ext cx="35021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Embedded in the business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Engineers sit inside business teams, not central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761488"/>
            <a:ext cx="3977639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502920" y="29443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935224"/>
            <a:ext cx="35021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Problem-led, not spec-led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Work starts from operational problems, not requirements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3602736"/>
            <a:ext cx="3977639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502920" y="37856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776472"/>
            <a:ext cx="35021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Rapid iteration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Solutions iterated live with users in days, not quarters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4443984"/>
            <a:ext cx="3977639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502920" y="462686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35021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Productization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Proven solutions become reusable platform 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627632"/>
            <a:ext cx="6839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EVIDENCE FROM LEADING ORGANIZATIONS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6320" y="1883664"/>
            <a:ext cx="384048" cy="0"/>
          </a:xfrm>
          <a:prstGeom prst="line">
            <a:avLst/>
          </a:prstGeom>
          <a:ln w="28575">
            <a:solidFill>
              <a:srgbClr val="2E74B5"/>
            </a:solidFill>
          </a:ln>
          <a:effectLst/>
        </p:spPr>
      </p:cxn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846320" y="2048256"/>
          <a:ext cx="6839712" cy="33915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87552"/>
                <a:gridCol w="2834640"/>
                <a:gridCol w="30175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73152" marR="73152" marT="41148" marB="41148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Operating model</a:t>
                      </a:r>
                    </a:p>
                  </a:txBody>
                  <a:tcPr marL="73152" marR="73152" marT="41148" marB="41148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Publicly reported outcomes</a:t>
                      </a:r>
                    </a:p>
                  </a:txBody>
                  <a:tcPr marL="73152" marR="73152" marT="41148" marB="41148" anchor="ctr">
                    <a:solidFill>
                      <a:srgbClr val="102A43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Palantir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Originator of the FDE model; engineers deploy on-site to build on Foundry and AIP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Credits FDE-led AIP bootcamps for accelerating US commercial growth on earnings calls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Uber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Engineers embedded with city operations teams; model now offered externally via Uber AI Solutions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Embedded ops–engineering pairing publicly cited as central to city-by-city scaling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OpenAI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FDE teams embed with enterprise customers to build agentic deployments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Positions FDEs as core to converting frontier models into enterprise adoption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ElevenLabs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FDEs co-build production voice agents with customer engineering teams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Attributes enterprise expansion to its deployment-led engineering model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Stripe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Engineers work directly with users; solution engineers embedded in key accounts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User-proximate engineering credited for product velocity and enterprise wins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Brex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AI engineers embedded in internal teams to redesign core workflows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Leadership reports company-wide daily AI usage from the embedded rollout</a:t>
                      </a:r>
                    </a:p>
                  </a:txBody>
                  <a:tcPr marL="73152" marR="73152" marT="41148" marB="41148" anchor="ctr">
                    <a:solidFill>
                      <a:srgbClr val="F4F6F8"/>
                    </a:solidFill>
                  </a:tcPr>
                </a:tc>
              </a:tr>
              <a:tr h="4453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 i="0">
                          <a:solidFill>
                            <a:srgbClr val="102A43"/>
                          </a:solidFill>
                          <a:latin typeface="Arial"/>
                        </a:rPr>
                        <a:t>Plaid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33383D"/>
                          </a:solidFill>
                          <a:latin typeface="Arial"/>
                        </a:rPr>
                        <a:t>FDEs work alongside customer engineers during onboarding and expansion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 i="0">
                          <a:solidFill>
                            <a:srgbClr val="636A71"/>
                          </a:solidFill>
                          <a:latin typeface="Arial"/>
                        </a:rPr>
                        <a:t>Publicly cites materially faster enterprise integrations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4846320" y="5614416"/>
            <a:ext cx="6839712" cy="694944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5614416"/>
            <a:ext cx="41148" cy="69494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614416"/>
            <a:ext cx="6473952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Common pattern:  </a:t>
            </a:r>
            <a:r>
              <a:rPr sz="950" b="0" i="0">
                <a:solidFill>
                  <a:srgbClr val="33383D"/>
                </a:solidFill>
                <a:latin typeface="Arial"/>
              </a:rPr>
              <a:t>every organization positions engineers at the point of value creation and relies on a platform team to convert local wins into reusable enterprise assets.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9AA0A6"/>
                </a:solidFill>
                <a:latin typeface="Arial"/>
              </a:rPr>
              <a:t>Source: Company earnings calls, engineering blogs and public statements. Outcomes as publicly reported; not independently verified.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0A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Arial"/>
              </a:rPr>
              <a:t>Leading organizations consistently deploy the same operating model despite differences in industry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115568"/>
            <a:ext cx="11185855" cy="0"/>
          </a:xfrm>
          <a:prstGeom prst="line">
            <a:avLst/>
          </a:prstGeom>
          <a:ln w="17780">
            <a:solidFill>
              <a:srgbClr val="102A43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2984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COMMON DESIGN PRINCIPLES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554480"/>
            <a:ext cx="384048" cy="0"/>
          </a:xfrm>
          <a:prstGeom prst="line">
            <a:avLst/>
          </a:prstGeom>
          <a:ln w="28575">
            <a:solidFill>
              <a:srgbClr val="2E74B5"/>
            </a:solidFill>
          </a:ln>
          <a:effectLst/>
        </p:spPr>
      </p:cxnSp>
      <p:sp>
        <p:nvSpPr>
          <p:cNvPr id="6" name="Rectangle 5"/>
          <p:cNvSpPr/>
          <p:nvPr/>
        </p:nvSpPr>
        <p:spPr>
          <a:xfrm>
            <a:off x="502920" y="1773936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73936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73936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1773936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Embed engineers alongside business operators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96312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96312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496312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2496312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Observe workflows first-hand before building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18688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18688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218688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218688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Deploy small, multidisciplinary pods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941064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41064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94106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941064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Run rapid build–measure–learn cycles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663440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63440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66344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" y="4663440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Productize successful solutions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85816"/>
            <a:ext cx="4114800" cy="6035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385816"/>
            <a:ext cx="36576" cy="6035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5385816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5385816"/>
            <a:ext cx="3337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3D"/>
                </a:solidFill>
                <a:latin typeface="Arial"/>
              </a:rPr>
              <a:t>Continuously strengthen the enterprise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129844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HOW EACH ORGANIZATION APPLIES 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83480" y="1554480"/>
            <a:ext cx="384048" cy="0"/>
          </a:xfrm>
          <a:prstGeom prst="line">
            <a:avLst/>
          </a:prstGeom>
          <a:ln w="28575">
            <a:solidFill>
              <a:srgbClr val="2E74B5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4983480" y="1773936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83480" y="1773936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11496" y="1847088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Palantir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11496" y="2075688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On-site FDEs building on Foundry and AIP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Two-role split — domain specialists and product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Land and expand enterprise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200" y="1773936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1773936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86216" y="1847088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Uber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6216" y="2075688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Engineers inside city operations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Ops data loop tuned market by market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Speed of launch and scale per city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83480" y="2903220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83480" y="2903220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11496" y="2976372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OpenAI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1496" y="320497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FDE pods within enterprise accounts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Proximity to frontier research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Production agent deployments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200" y="2903220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58200" y="2903220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86216" y="2976372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ElevenLabs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86216" y="320497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FDEs co-build with client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Deep voice and audio specialization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Fastest path to live voice agents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83480" y="4032504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83480" y="4032504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11496" y="4105656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Stripe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11496" y="4334256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Engineers paired directly with users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Developer empathy and API craft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Product velocity from user contact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58200" y="4032504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58200" y="4032504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86216" y="4105656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Brex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86216" y="4334256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AI engineers embedded in internal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Internal-first automation of own workflows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Company-wide productivity gains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83480" y="5161788"/>
            <a:ext cx="331927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3"/>
            </a:solidFill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83480" y="5161788"/>
            <a:ext cx="3319272" cy="1828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11496" y="5234940"/>
            <a:ext cx="3063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Plaid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1496" y="546354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Model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FDEs inside customer integration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Edge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Deep bank and fintech data expertise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 i="0">
                <a:solidFill>
                  <a:srgbClr val="9AA0A6"/>
                </a:solidFill>
                <a:latin typeface="Arial"/>
              </a:rPr>
              <a:t>Goal   </a:t>
            </a:r>
            <a:r>
              <a:rPr sz="800" b="0" i="0">
                <a:solidFill>
                  <a:srgbClr val="33383D"/>
                </a:solidFill>
                <a:latin typeface="Arial"/>
              </a:rPr>
              <a:t>Faster, stickier integrations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5161788"/>
            <a:ext cx="3319272" cy="1024128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5161788"/>
            <a:ext cx="41148" cy="10241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41080" y="5161788"/>
            <a:ext cx="2953512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 i="0">
                <a:solidFill>
                  <a:srgbClr val="102A43"/>
                </a:solidFill>
                <a:latin typeface="Arial"/>
              </a:rPr>
              <a:t>Same blueprint:  </a:t>
            </a:r>
            <a:r>
              <a:rPr sz="850" b="0" i="0">
                <a:solidFill>
                  <a:srgbClr val="33383D"/>
                </a:solidFill>
                <a:latin typeface="Arial"/>
              </a:rPr>
              <a:t>proximity to operations, speed of iteration and platform leverage — applied to different industries.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9AA0A6"/>
                </a:solidFill>
                <a:latin typeface="Arial"/>
              </a:rPr>
              <a:t>Source: Company engineering blogs, job postings and public statements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0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Arial"/>
              </a:rPr>
              <a:t>Forward-deployed engineering fundamentally changes how technology organizations create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115568"/>
            <a:ext cx="11185855" cy="0"/>
          </a:xfrm>
          <a:prstGeom prst="line">
            <a:avLst/>
          </a:prstGeom>
          <a:ln w="17780">
            <a:solidFill>
              <a:srgbClr val="102A43"/>
            </a:solidFill>
          </a:ln>
          <a:effectLst/>
        </p:spPr>
      </p:cxnSp>
      <p:sp>
        <p:nvSpPr>
          <p:cNvPr id="4" name="Rectangle 3"/>
          <p:cNvSpPr/>
          <p:nvPr/>
        </p:nvSpPr>
        <p:spPr>
          <a:xfrm>
            <a:off x="502920" y="1298448"/>
            <a:ext cx="53492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636A71"/>
                </a:solidFill>
                <a:latin typeface="Arial"/>
              </a:rPr>
              <a:t>TRADITIONAL OPERATING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6792" y="1298448"/>
            <a:ext cx="5349240" cy="310896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FORWARD-DEPLOYED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34540" y="1810512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Business</a:t>
            </a:r>
          </a:p>
        </p:txBody>
      </p:sp>
      <p:sp>
        <p:nvSpPr>
          <p:cNvPr id="7" name="Down Arrow 6"/>
          <p:cNvSpPr/>
          <p:nvPr/>
        </p:nvSpPr>
        <p:spPr>
          <a:xfrm>
            <a:off x="3131820" y="2116836"/>
            <a:ext cx="91440" cy="91440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34540" y="2231136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Requirements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31820" y="2537460"/>
            <a:ext cx="91440" cy="91440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34540" y="2651760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Engineering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131820" y="2958084"/>
            <a:ext cx="91440" cy="91440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4540" y="3072384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Testing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31820" y="3378708"/>
            <a:ext cx="91440" cy="91440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4540" y="3493008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Deployment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31820" y="3799332"/>
            <a:ext cx="91440" cy="91440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4540" y="3913632"/>
            <a:ext cx="228600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9AA0A6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636A71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636A71"/>
                </a:solidFill>
                <a:latin typeface="Arial"/>
              </a:rPr>
              <a:t>STRUCTURAL WEAKNESSES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5089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Intent degrades at every handoff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0235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206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Feedback arrives only after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5381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0352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Cycle times measured in quarters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60527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5498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636A71"/>
                </a:solidFill>
                <a:latin typeface="Arial"/>
              </a:rPr>
              <a:t>Business and IT optimize different goals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94092" y="1737360"/>
            <a:ext cx="2834640" cy="3291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Business Team</a:t>
            </a:r>
          </a:p>
        </p:txBody>
      </p:sp>
      <p:sp>
        <p:nvSpPr>
          <p:cNvPr id="27" name="Up-Down Arrow 26"/>
          <p:cNvSpPr/>
          <p:nvPr/>
        </p:nvSpPr>
        <p:spPr>
          <a:xfrm>
            <a:off x="8961120" y="2093976"/>
            <a:ext cx="100584" cy="137160"/>
          </a:xfrm>
          <a:prstGeom prst="upDownArrow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94092" y="2258568"/>
            <a:ext cx="2834640" cy="3291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Embedded Engineer</a:t>
            </a:r>
          </a:p>
        </p:txBody>
      </p:sp>
      <p:sp>
        <p:nvSpPr>
          <p:cNvPr id="29" name="Up-Down Arrow 28"/>
          <p:cNvSpPr/>
          <p:nvPr/>
        </p:nvSpPr>
        <p:spPr>
          <a:xfrm>
            <a:off x="8961120" y="2615184"/>
            <a:ext cx="100584" cy="137160"/>
          </a:xfrm>
          <a:prstGeom prst="upDownArrow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94092" y="2779776"/>
            <a:ext cx="2834640" cy="3291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AI Builder</a:t>
            </a:r>
          </a:p>
        </p:txBody>
      </p:sp>
      <p:sp>
        <p:nvSpPr>
          <p:cNvPr id="31" name="Up-Down Arrow 30"/>
          <p:cNvSpPr/>
          <p:nvPr/>
        </p:nvSpPr>
        <p:spPr>
          <a:xfrm>
            <a:off x="8961120" y="3136392"/>
            <a:ext cx="100584" cy="137160"/>
          </a:xfrm>
          <a:prstGeom prst="upDownArrow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94092" y="3300984"/>
            <a:ext cx="2834640" cy="3291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Platform Team</a:t>
            </a:r>
          </a:p>
        </p:txBody>
      </p:sp>
      <p:sp>
        <p:nvSpPr>
          <p:cNvPr id="33" name="Up-Down Arrow 32"/>
          <p:cNvSpPr/>
          <p:nvPr/>
        </p:nvSpPr>
        <p:spPr>
          <a:xfrm>
            <a:off x="8961120" y="3657600"/>
            <a:ext cx="100584" cy="137160"/>
          </a:xfrm>
          <a:prstGeom prst="upDownArrow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94092" y="3822192"/>
            <a:ext cx="2834640" cy="329184"/>
          </a:xfrm>
          <a:prstGeom prst="rect">
            <a:avLst/>
          </a:prstGeom>
          <a:solidFill>
            <a:srgbClr val="E9F1F8"/>
          </a:solidFill>
          <a:ln w="12700">
            <a:solidFill>
              <a:srgbClr val="2E74B5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02A43"/>
                </a:solidFill>
                <a:latin typeface="Arial"/>
              </a:rPr>
              <a:t>Reusable Enterprise Capability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452628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102A43"/>
                </a:solidFill>
                <a:latin typeface="Arial"/>
              </a:rPr>
              <a:t>STRUCTURAL BENEFITS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36792" y="485089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480060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33383D"/>
                </a:solidFill>
                <a:latin typeface="Arial"/>
              </a:rPr>
              <a:t>Problems observed first-hand, not translated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36792" y="510235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9672" y="505206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33383D"/>
                </a:solidFill>
                <a:latin typeface="Arial"/>
              </a:rPr>
              <a:t>Working software in days; feedback continuous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6792" y="535381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530352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33383D"/>
                </a:solidFill>
                <a:latin typeface="Arial"/>
              </a:rPr>
              <a:t>Every deployment compounds into a shared platform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5605272"/>
            <a:ext cx="68580" cy="685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555498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33383D"/>
                </a:solidFill>
                <a:latin typeface="Arial"/>
              </a:rPr>
              <a:t>One team accountable for the business outcome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833872"/>
            <a:ext cx="11185855" cy="530352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833872"/>
            <a:ext cx="41148" cy="53035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833872"/>
            <a:ext cx="1082009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 i="0">
                <a:solidFill>
                  <a:srgbClr val="102A43"/>
                </a:solidFill>
                <a:latin typeface="Arial"/>
              </a:rPr>
              <a:t>Bottom line:  </a:t>
            </a:r>
            <a:r>
              <a:rPr sz="950" b="0" i="0">
                <a:solidFill>
                  <a:srgbClr val="33383D"/>
                </a:solidFill>
                <a:latin typeface="Arial"/>
              </a:rPr>
              <a:t>the traditional model manages requirements across handoffs; the forward-deployed model removes the handoffs — compressing learning cycles from quarters to days and converting each win into enterprise capability.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0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Arial"/>
              </a:rPr>
              <a:t>A forward-deployed engineering capability requires changes across operating model, governance and talent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115568"/>
            <a:ext cx="11185855" cy="0"/>
          </a:xfrm>
          <a:prstGeom prst="line">
            <a:avLst/>
          </a:prstGeom>
          <a:ln w="17780">
            <a:solidFill>
              <a:srgbClr val="102A43"/>
            </a:solidFill>
          </a:ln>
          <a:effectLst/>
        </p:spPr>
      </p:cxnSp>
      <p:sp>
        <p:nvSpPr>
          <p:cNvPr id="4" name="Rectangle 3"/>
          <p:cNvSpPr/>
          <p:nvPr/>
        </p:nvSpPr>
        <p:spPr>
          <a:xfrm>
            <a:off x="502920" y="1371600"/>
            <a:ext cx="2093976" cy="3657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55648"/>
            <a:ext cx="2093976" cy="36118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" y="1984248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38528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Domain-aligned pods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642616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596896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Dedicated embedded engineers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" y="3300984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255264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Central platform enablement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" y="3959352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391363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Rotation between pod and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4617720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572000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Executive sponsor per domain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76118" y="1371600"/>
            <a:ext cx="2093976" cy="3657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Talent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76118" y="1755648"/>
            <a:ext cx="2093976" cy="36118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4134" y="1984248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8726" y="1938528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Product-minded engineers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4134" y="2642616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8726" y="2596896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Business-domain fluency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04134" y="3300984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8726" y="3255264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Applied AI engineering depth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04134" y="3959352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8726" y="391363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Distinct FDE career track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4134" y="4617720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8726" y="4572000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Incentives tied to business outcomes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49316" y="1371600"/>
            <a:ext cx="2093976" cy="3657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9316" y="1755648"/>
            <a:ext cx="2093976" cy="36118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7332" y="1984248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1924" y="1938528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Shared enterprise AI platform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7332" y="2642616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1924" y="2596896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Reusable components and agents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77332" y="3300984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1924" y="3255264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Governed data access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77332" y="3959352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1924" y="391363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Observability and 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7332" y="4617720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1924" y="4572000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Fast sandbox-to-production path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22514" y="1371600"/>
            <a:ext cx="2093976" cy="3657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22514" y="1755648"/>
            <a:ext cx="2093976" cy="36118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50530" y="1984248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5122" y="1938528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Clear domain ownership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50530" y="2642616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15122" y="2596896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Portfolio-based funding model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50530" y="3300984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15122" y="3255264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Security and data protection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50530" y="3959352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15122" y="391363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AI risk management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50530" y="4617720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5122" y="4572000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Stage-gates for productization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95712" y="1371600"/>
            <a:ext cx="2093976" cy="3657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Success Metrics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95712" y="1755648"/>
            <a:ext cx="2093976" cy="36118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23728" y="1984248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88320" y="1938528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Time from problem to deployment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23728" y="2642616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88320" y="2596896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Business-user adoption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23728" y="3300984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88320" y="3255264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Productivity and cost impact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23728" y="3959352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88320" y="391363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Platform reuse rate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23728" y="4617720"/>
            <a:ext cx="64008" cy="6400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88320" y="4572000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33383D"/>
                </a:solidFill>
                <a:latin typeface="Arial"/>
              </a:rPr>
              <a:t>Customer and P&amp;L outcomes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596128"/>
            <a:ext cx="11185855" cy="749808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596128"/>
            <a:ext cx="41148" cy="74980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596128"/>
            <a:ext cx="108200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102A43"/>
                </a:solidFill>
                <a:latin typeface="Arial"/>
              </a:rPr>
              <a:t>Recommendation:  </a:t>
            </a:r>
            <a:r>
              <a:rPr sz="1050" b="0" i="0">
                <a:solidFill>
                  <a:srgbClr val="33383D"/>
                </a:solidFill>
                <a:latin typeface="Arial"/>
              </a:rPr>
              <a:t>stand up two to three forward-deployed pods in high-value domains within 90 days, fund a shared platform team from day one, and scale only what demonstrates measured business impact.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C9CED3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0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